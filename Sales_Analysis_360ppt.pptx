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Month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9055508.48</c:v>
                </c:pt>
                <c:pt idx="1">
                  <c:v>8298269.92</c:v>
                </c:pt>
                <c:pt idx="2">
                  <c:v>9471519.3</c:v>
                </c:pt>
                <c:pt idx="3">
                  <c:v>8804584.72</c:v>
                </c:pt>
                <c:pt idx="4">
                  <c:v>9464628.24</c:v>
                </c:pt>
                <c:pt idx="5">
                  <c:v>8931666.7</c:v>
                </c:pt>
                <c:pt idx="6">
                  <c:v>9163736.81</c:v>
                </c:pt>
                <c:pt idx="7">
                  <c:v>9229816.43</c:v>
                </c:pt>
                <c:pt idx="8">
                  <c:v>9177392.63</c:v>
                </c:pt>
                <c:pt idx="9">
                  <c:v>9322530.67</c:v>
                </c:pt>
                <c:pt idx="10">
                  <c:v>8987982.99</c:v>
                </c:pt>
                <c:pt idx="11">
                  <c:v>9006213.03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Day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14969363.28</c:v>
                </c:pt>
                <c:pt idx="1">
                  <c:v>15582845.17</c:v>
                </c:pt>
                <c:pt idx="2">
                  <c:v>15644919.35</c:v>
                </c:pt>
                <c:pt idx="3">
                  <c:v>15915678.64</c:v>
                </c:pt>
                <c:pt idx="4">
                  <c:v>15286186.31</c:v>
                </c:pt>
                <c:pt idx="5">
                  <c:v>15768353.74</c:v>
                </c:pt>
                <c:pt idx="6">
                  <c:v>15746503.43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Product 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Product_191</c:v>
                </c:pt>
                <c:pt idx="1">
                  <c:v>Product_383</c:v>
                </c:pt>
                <c:pt idx="2">
                  <c:v>Product_124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399177.31</c:v>
                </c:pt>
                <c:pt idx="1">
                  <c:v>382855.27</c:v>
                </c:pt>
                <c:pt idx="2">
                  <c:v>359184.01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Store 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Store_18</c:v>
                </c:pt>
                <c:pt idx="1">
                  <c:v>Store_145</c:v>
                </c:pt>
                <c:pt idx="2">
                  <c:v>Store_3</c:v>
                </c:pt>
                <c:pt idx="3">
                  <c:v>Store_90</c:v>
                </c:pt>
                <c:pt idx="4">
                  <c:v>Store_82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786365.88</c:v>
                </c:pt>
                <c:pt idx="1">
                  <c:v>689695.03</c:v>
                </c:pt>
                <c:pt idx="2">
                  <c:v>682263.94</c:v>
                </c:pt>
                <c:pt idx="3">
                  <c:v>676263.9</c:v>
                </c:pt>
                <c:pt idx="4">
                  <c:v>659341.32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Mix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Returning Customers</c:v>
                </c:pt>
                <c:pt idx="1">
                  <c:v>New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92.6</c:v>
                </c:pt>
                <c:pt idx="1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Mix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Promo Sales</c:v>
                </c:pt>
                <c:pt idx="1">
                  <c:v>Non-Promo Sales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360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Priyanshu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Provide comprehensive insights into sales performance, </a:t>
            </a:r>
          </a:p>
          <a:p>
            <a:r>
              <a:t>customer behavior, store metrics, and product trends.</a:t>
            </a:r>
          </a:p>
          <a:p/>
          <a:p>
            <a:r>
              <a:t>Key Components: Revenue patterns, category trends, top &amp; bottom products, </a:t>
            </a:r>
          </a:p>
          <a:p>
            <a:r>
              <a:t>regional performance, customer retention, promotional impact.</a:t>
            </a:r>
          </a:p>
          <a:p/>
          <a:p>
            <a:r>
              <a:t>Tools &amp; Techniques: SQL for extraction, Python for data cleaning &amp; EDA, </a:t>
            </a:r>
          </a:p>
          <a:p>
            <a:r>
              <a:t>matplotlib-based visualizations &amp; advanced analytics.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108,913,849.92</a:t>
            </a:r>
          </a:p>
          <a:p>
            <a:r>
              <a:t>Total GMV: 128,133,941.22</a:t>
            </a:r>
          </a:p>
          <a:p>
            <a:r>
              <a:t>Units Sold: 50,285</a:t>
            </a:r>
          </a:p>
          <a:p>
            <a:r>
              <a:t>AOV: 5,445.69</a:t>
            </a:r>
          </a:p>
          <a:p>
            <a:r>
              <a:t>Margin %: -15.47%</a:t>
            </a:r>
          </a:p>
          <a:p>
            <a:r>
              <a:t>Repeat Rate %: 92.60%</a:t>
            </a:r>
          </a:p>
          <a:p>
            <a:r>
              <a:t>Return Rate %: 7.48%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Trends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371600"/>
          <a:ext cx="5029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&amp; Region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 &amp; Return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Promotional Effectiveness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quality for high-return products.</a:t>
            </a:r>
          </a:p>
          <a:p>
            <a:r>
              <a:t>• Increase inventory for top-selling items.</a:t>
            </a:r>
          </a:p>
          <a:p>
            <a:r>
              <a:t>• Reduce discounts on low-margin items.</a:t>
            </a:r>
          </a:p>
          <a:p>
            <a:r>
              <a:t>• Focus campaigns on high-performing regions.</a:t>
            </a:r>
          </a:p>
          <a:p>
            <a:r>
              <a:t>• Launch loyalty and retention programs.</a:t>
            </a:r>
          </a:p>
          <a:p>
            <a:r>
              <a:t>• Optimize promotional activities.</a:t>
            </a:r>
          </a:p>
          <a:p>
            <a:r>
              <a:t>• Improve visibility of high-margin products.</a:t>
            </a:r>
          </a:p>
          <a:p>
            <a:r>
              <a:t>• Prepare inventory ahead of seasonal peaks.</a:t>
            </a:r>
          </a:p>
          <a:p>
            <a:r>
              <a:t>• Re-evaluate categories with high return rates.</a:t>
            </a:r>
          </a:p>
          <a:p>
            <a:r>
              <a:t>• Enhance customer experience via fast delivery &amp;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noFill/>
          <a:ln w="2743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